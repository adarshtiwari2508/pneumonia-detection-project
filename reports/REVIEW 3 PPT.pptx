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  <p:sldId id="264" r:id="rId12"/>
    <p:sldId id="275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E97A65-C0B5-4235-850E-A08922FFCC1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1BCA47F4-8DF7-41A4-9F51-B0651D0B9201}">
          <p14:sldIdLst>
            <p14:sldId id="272"/>
            <p14:sldId id="273"/>
          </p14:sldIdLst>
        </p14:section>
        <p14:section name="Untitled Section" id="{59D7C9BE-0B9A-4ED2-8512-AB1AE2070FE0}">
          <p14:sldIdLst>
            <p14:sldId id="263"/>
          </p14:sldIdLst>
        </p14:section>
        <p14:section name="Untitled Section" id="{E3AE6FA2-4765-42F2-8968-7FB7BF1F8800}">
          <p14:sldIdLst>
            <p14:sldId id="264"/>
            <p14:sldId id="275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900F-6ADC-767F-9BF1-CCF5B5B45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F86F3-363C-23B1-C83C-29545695C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02178-38BE-5BF5-D172-254ABBCE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BF74A-3DF3-ADDC-E2B9-32FEB53F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4DD69-953F-515A-89BD-D1ACE722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2339-74CA-840F-AF91-943B907D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6381-0764-C1EF-2ECF-900CBAC38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6D8C-27C9-627D-7596-A77CE9A2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257E2-16C6-C960-91C3-5BE9F361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33EDF-327F-165A-677C-2C8DD71F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2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FD19-0D25-E918-D2C3-A5C86851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AB91-4784-2AAB-707C-4DB84C7E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9C03-E411-A454-9148-7A2965C2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A071-65DA-A19E-177B-CF7FBEF2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7DF62-B8B3-5D47-39FB-B7218DA7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8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7B25-DB78-5B70-8DAC-2B69AE8E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B06D-9F8B-432E-D562-DBC4AB72A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67708-87A1-3163-8C26-8ABE87BB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F8E19-0265-7CBD-EBFF-4BFADF25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B0A5C-7DEA-CFED-0645-B9CBA24E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8CE8-860C-74A6-C55A-B5E80CAA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70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99DA-9DA0-37D8-FFF4-20FDFF40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93CD5-4CC3-3790-1C2E-F13C0E76C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4F7F6-1725-9D99-07CD-7FE5ECB20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3F73-A5F4-EDA7-38FC-19EFA135F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E8C8F-646B-3174-836F-94E567DD5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ED68C-C023-D1D7-75A2-AD9B5EAA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7F82BB-17CD-73FD-4157-9EB0849B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78E78-DEAD-9790-1695-60B2BF1E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9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260E-0774-387E-9CEC-C629C050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1173C-6379-0735-137B-B80294A9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2D2A5-59C3-63F2-40E7-E55035AE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B6313-5BA5-C8E2-DDA6-390C7F56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6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22E4D-3623-34F9-B85C-89E06DB3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0AFB4-F3B0-2D07-2D9E-D4CC8A78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D0FDD-98D2-AECF-14D8-959BD0DA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2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DA3E-2A64-17E9-C550-5070DEA9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E516-5A3B-888D-0965-C1F813B57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67CDF-EF83-4BE4-D57E-340B744DE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A852B-08EB-B1EF-B018-29104E2B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8F011-4474-9E4C-5B11-82218381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8B5EC-7800-780E-7A9A-6D7F2FB6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92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778D-B3EC-8DD5-7BBF-FE5F9261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AD30A-3184-FCF1-193D-5F3309477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DB671-1ABF-04AF-5911-01EF3C8E0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BD8BD-C6DD-E945-FA9D-00623D30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7D2ED-830B-925E-87BA-9DBFE3BC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37205-C3AB-8DB1-8B86-BFA9C3CB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84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7F5E-A628-55B9-16E4-A3F9694B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21FFC-C4D0-0367-77C1-1CC951ABC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5ABF0-4628-AC34-20B7-24007995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8A919-4A36-A797-E55E-1EAF610A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C747-6533-C1F6-E735-5D61CE73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1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C2B54-D674-5DF3-E0E0-3AC9F5EFF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98A2B-7706-BF9E-7219-1C6EE85DA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31DB-2F14-45B2-7F64-B3D92B624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22689-3282-F844-F340-326F52E9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68714-B4BF-A6DE-D0A5-0911DDFD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48F7B-D9D8-2643-CDFA-6683A45D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D93BA-31AE-AF37-B924-1FBABE0EF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AE600-98F8-3619-038E-341603514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D75C9-C0F8-446A-8A02-38F519440F4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4565D-FADD-36BC-22C1-71D96A4FD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EAA50-658E-7FC3-1242-11EE40FDA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987BF-74A4-4E59-961B-51E2A6770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32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1999-4893/18/2/82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ADE1DE-54FB-DC04-13FA-A060125E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1440392"/>
            <a:ext cx="10515600" cy="1325563"/>
          </a:xfrm>
        </p:spPr>
        <p:txBody>
          <a:bodyPr>
            <a:normAutofit fontScale="90000"/>
          </a:bodyPr>
          <a:lstStyle/>
          <a:p>
            <a:pPr marL="0" indent="0" algn="ctr"/>
            <a:r>
              <a:rPr lang="en-IN" dirty="0"/>
              <a:t>B.Tech. BCSE497J - Project-I </a:t>
            </a:r>
            <a:br>
              <a:rPr lang="en-IN" dirty="0"/>
            </a:br>
            <a:r>
              <a:rPr lang="en-IN" dirty="0"/>
              <a:t>PneuNet: PNEUMONIA DETECTION USING CNN</a:t>
            </a:r>
            <a:br>
              <a:rPr lang="en-IN" dirty="0"/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53708D-CB22-9852-012E-1E171A48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1800" dirty="0"/>
              <a:t>by 22BDS0269 SWAPNIL DWIVEDI </a:t>
            </a:r>
          </a:p>
          <a:p>
            <a:pPr marL="0" indent="0" algn="ctr">
              <a:buNone/>
            </a:pPr>
            <a:r>
              <a:rPr lang="en-IN" sz="1800" dirty="0"/>
              <a:t>22BDS0350 ADARSH TIWARI </a:t>
            </a:r>
          </a:p>
          <a:p>
            <a:pPr marL="0" indent="0" algn="ctr">
              <a:buNone/>
            </a:pPr>
            <a:r>
              <a:rPr lang="en-IN" sz="1800" dirty="0"/>
              <a:t>Under the Supervision of </a:t>
            </a:r>
          </a:p>
          <a:p>
            <a:pPr marL="0" indent="0" algn="ctr">
              <a:buNone/>
            </a:pPr>
            <a:r>
              <a:rPr lang="en-IN" sz="1800" dirty="0"/>
              <a:t>Prof. Sudhakar P </a:t>
            </a:r>
          </a:p>
          <a:p>
            <a:pPr marL="0" indent="0" algn="ctr">
              <a:buNone/>
            </a:pPr>
            <a:r>
              <a:rPr lang="en-IN" sz="1800" dirty="0"/>
              <a:t>Assistant Professor Sr. Grade 1 </a:t>
            </a:r>
          </a:p>
          <a:p>
            <a:pPr marL="0" indent="0" algn="ctr">
              <a:buNone/>
            </a:pPr>
            <a:r>
              <a:rPr lang="en-IN" sz="1800" dirty="0"/>
              <a:t>School of Computer Science and Engineering (SCOPE)</a:t>
            </a:r>
          </a:p>
        </p:txBody>
      </p:sp>
    </p:spTree>
    <p:extLst>
      <p:ext uri="{BB962C8B-B14F-4D97-AF65-F5344CB8AC3E}">
        <p14:creationId xmlns:p14="http://schemas.microsoft.com/office/powerpoint/2010/main" val="66772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7668-0697-3955-9360-1C8505166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532" y="118119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is to develop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deep learning-based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accurately detecting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from chest X-ray images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integrates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ResNet152V2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using transfer learning, to enhance diagnostic precision, reduce human error, and assist radiologists in making faster and more reliable medical decisions.</a:t>
            </a:r>
          </a:p>
          <a:p>
            <a:pPr marL="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architecture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learning spatial and texture features from lung X-ray images.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augment the dataset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normalization, resizing, and augmentation techniques to improve generalization and minimize overfitting.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standard metrics such as accuracy, precision, recall, F1-score, and confusion matrix.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efficient, scalable, and reliable diagnostic tool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radiologists and enhances early detection of pneumonia, especially in low-resource medical environments.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377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89BC-C307-88CB-EF27-37205E50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Motivation Behind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DC74-ED59-3A7E-A17C-739BDE92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 Dependency: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interpretation of chest X-rays can vary based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expertise, workload, and fatigue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diagnostic errors.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Healthcare Gaps: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resource-limited regions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is a shortage of skilled radiologists —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quick, accessible diagnoses.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Human Error: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offers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and objective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approach, minimizing human bias in interpreting X-rays.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&amp; Scalable Solution: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CNN-powered model can deliver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and precise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results, supporting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and mobile-health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cost-effective, reliable, and automated diagnostic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assists radiologists and improves patient outcomes through early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55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1D24-A2FD-F811-0F6F-93B4A421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and 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304F-89DD-46AC-9067-86F230A19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300" b="1" dirty="0"/>
              <a:t>Literature Survey 1</a:t>
            </a:r>
          </a:p>
          <a:p>
            <a:r>
              <a:rPr lang="en-US" sz="2300" b="1" dirty="0"/>
              <a:t>Paper:</a:t>
            </a:r>
            <a:r>
              <a:rPr lang="en-US" sz="2300" dirty="0"/>
              <a:t> L. Gowri, </a:t>
            </a:r>
            <a:r>
              <a:rPr lang="en-US" sz="2300" i="1" dirty="0"/>
              <a:t>“Enhancing Pneumonia Detection with Masked Neural Networks,”</a:t>
            </a:r>
            <a:r>
              <a:rPr lang="en-US" sz="2300" dirty="0"/>
              <a:t> </a:t>
            </a:r>
            <a:r>
              <a:rPr lang="en-US" sz="2300" i="1" dirty="0"/>
              <a:t>Neural Computing and Applications</a:t>
            </a:r>
            <a:r>
              <a:rPr lang="en-US" sz="2300" dirty="0"/>
              <a:t>, 2024.</a:t>
            </a:r>
          </a:p>
          <a:p>
            <a:r>
              <a:rPr lang="en-US" sz="2300" b="1" dirty="0"/>
              <a:t>What They Have Done:</a:t>
            </a:r>
            <a:br>
              <a:rPr lang="en-US" sz="2300" dirty="0"/>
            </a:br>
            <a:r>
              <a:rPr lang="en-US" sz="2300" dirty="0"/>
              <a:t>Gowri introduced a masked CNN that focuses on the lung region to reduce background interference, improving interpretability and training efficiency.</a:t>
            </a:r>
          </a:p>
          <a:p>
            <a:r>
              <a:rPr lang="en-US" sz="2300" b="1" dirty="0"/>
              <a:t>Gaps Identified:</a:t>
            </a:r>
            <a:endParaRPr lang="en-US" sz="2300" dirty="0"/>
          </a:p>
          <a:p>
            <a:r>
              <a:rPr lang="en-US" sz="2300" b="1" dirty="0"/>
              <a:t>Limited dataset</a:t>
            </a:r>
            <a:r>
              <a:rPr lang="en-US" sz="2300" dirty="0"/>
              <a:t> reduced generalization capacity.</a:t>
            </a:r>
          </a:p>
          <a:p>
            <a:r>
              <a:rPr lang="en-US" sz="2300" dirty="0"/>
              <a:t>No </a:t>
            </a:r>
            <a:r>
              <a:rPr lang="en-US" sz="2300" b="1" dirty="0"/>
              <a:t>transfer learning or deeper model comparison</a:t>
            </a:r>
            <a:r>
              <a:rPr lang="en-US" sz="2300" dirty="0"/>
              <a:t> was performed.</a:t>
            </a:r>
          </a:p>
          <a:p>
            <a:r>
              <a:rPr lang="en-US" sz="2300" dirty="0"/>
              <a:t>The model lacked </a:t>
            </a:r>
            <a:r>
              <a:rPr lang="en-US" sz="2300" b="1" dirty="0"/>
              <a:t>robust augmentation and fine-tuning</a:t>
            </a:r>
            <a:r>
              <a:rPr lang="en-US" sz="2300" dirty="0"/>
              <a:t> for performance optimization.</a:t>
            </a:r>
          </a:p>
          <a:p>
            <a:r>
              <a:rPr lang="en-US" sz="2300" b="1" dirty="0"/>
              <a:t>Addressed in Our Work:</a:t>
            </a:r>
            <a:br>
              <a:rPr lang="en-US" sz="2300" dirty="0"/>
            </a:br>
            <a:r>
              <a:rPr lang="en-US" sz="2300" dirty="0"/>
              <a:t>Our project combines </a:t>
            </a:r>
            <a:r>
              <a:rPr lang="en-US" sz="2300" b="1" dirty="0"/>
              <a:t>custom CNN with ResNet152V2</a:t>
            </a:r>
            <a:r>
              <a:rPr lang="en-US" sz="2300" dirty="0"/>
              <a:t> and uses </a:t>
            </a:r>
            <a:r>
              <a:rPr lang="en-US" sz="2300" b="1" dirty="0"/>
              <a:t>class balance</a:t>
            </a:r>
            <a:r>
              <a:rPr lang="en-US" sz="2300" dirty="0"/>
              <a:t>, </a:t>
            </a:r>
            <a:r>
              <a:rPr lang="en-US" sz="2300" b="1" dirty="0"/>
              <a:t>fine-tuning</a:t>
            </a:r>
            <a:r>
              <a:rPr lang="en-US" sz="2300" dirty="0"/>
              <a:t>, and </a:t>
            </a:r>
            <a:r>
              <a:rPr lang="en-US" sz="2300" b="1" dirty="0"/>
              <a:t>residual-SE integration</a:t>
            </a:r>
            <a:r>
              <a:rPr lang="en-US" sz="2300" dirty="0"/>
              <a:t>, achieving </a:t>
            </a:r>
            <a:r>
              <a:rPr lang="en-US" sz="2300" b="1" dirty="0"/>
              <a:t>higher validation and test accuracy</a:t>
            </a:r>
            <a:r>
              <a:rPr lang="en-US" sz="2300" dirty="0"/>
              <a:t> while improving generalization across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5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352D9-C8F9-4612-943D-0F0B243EB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Literature Survey 2</a:t>
            </a:r>
          </a:p>
          <a:p>
            <a:r>
              <a:rPr lang="en-US" b="1" dirty="0"/>
              <a:t> Paper:</a:t>
            </a:r>
            <a:r>
              <a:rPr lang="en-US" dirty="0"/>
              <a:t> “Pneumonia Disease Detection Using Chest X-Rays and Machine Learning,” </a:t>
            </a:r>
            <a:r>
              <a:rPr lang="en-US" i="1" dirty="0"/>
              <a:t>Algorithms</a:t>
            </a:r>
            <a:r>
              <a:rPr lang="en-US" dirty="0"/>
              <a:t>, Vol. 18, No. 2, 2025. </a:t>
            </a:r>
            <a:r>
              <a:rPr lang="en-US" dirty="0">
                <a:hlinkClick r:id="rId2"/>
              </a:rPr>
              <a:t>MDPI</a:t>
            </a:r>
            <a:br>
              <a:rPr lang="en-US" dirty="0"/>
            </a:br>
            <a:r>
              <a:rPr lang="en-US" b="1" dirty="0"/>
              <a:t>What They Have Done:</a:t>
            </a:r>
            <a:br>
              <a:rPr lang="en-US" dirty="0"/>
            </a:br>
            <a:r>
              <a:rPr lang="en-US" dirty="0"/>
              <a:t>This study evaluated a CNN model on original data and subsets with augmentation. For the original dataset the accuracy was around </a:t>
            </a:r>
            <a:r>
              <a:rPr lang="en-US" b="1" dirty="0"/>
              <a:t>79%</a:t>
            </a:r>
            <a:r>
              <a:rPr lang="en-US" dirty="0"/>
              <a:t>, precision ~76%, recall ~73%, F1-score ~74%, and AUC ~0.85. When dataset size was reduced the performance further dropped (accuracy ~75%, AUC ~0.78). </a:t>
            </a:r>
            <a:r>
              <a:rPr lang="en-US" dirty="0">
                <a:hlinkClick r:id="rId2"/>
              </a:rPr>
              <a:t>MDPI</a:t>
            </a:r>
            <a:br>
              <a:rPr lang="en-US" dirty="0"/>
            </a:br>
            <a:r>
              <a:rPr lang="en-US" b="1" dirty="0"/>
              <a:t>Gaps Identified:</a:t>
            </a:r>
            <a:endParaRPr lang="en-US" dirty="0"/>
          </a:p>
          <a:p>
            <a:r>
              <a:rPr lang="en-US" dirty="0"/>
              <a:t>The poor performance highlights issues of small or imbalanced datasets and limited feature learning capability.</a:t>
            </a:r>
          </a:p>
          <a:p>
            <a:r>
              <a:rPr lang="en-US" dirty="0"/>
              <a:t>The study did not leverage transfer learning or fine-tuning of deeper models, which could improve generalization.</a:t>
            </a:r>
          </a:p>
          <a:p>
            <a:r>
              <a:rPr lang="en-US" dirty="0"/>
              <a:t>Channel attention and residual connections were absent, which restrict the model’s ability to learn nuanced infection features.</a:t>
            </a:r>
            <a:br>
              <a:rPr lang="en-US" dirty="0"/>
            </a:br>
            <a:r>
              <a:rPr lang="en-US" b="1" dirty="0"/>
              <a:t>How Our Work Addresses:</a:t>
            </a:r>
            <a:br>
              <a:rPr lang="en-US" dirty="0"/>
            </a:br>
            <a:r>
              <a:rPr lang="en-US" dirty="0"/>
              <a:t>Our project uses a hybrid of custom CNN (with deeper architecture + attention) and a pretrained ResNet152V2 (fine-tuned). We also apply robust data augmentation, segmentation/attention and training strategies to address dataset-size and learning limitations.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2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C450-EEE8-FA2A-494B-8E467A93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006A-D858-3C6D-26F1-E12CF59C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sz="2300" b="1" dirty="0"/>
              <a:t>Problem Statement:</a:t>
            </a:r>
          </a:p>
          <a:p>
            <a:pPr marL="0" indent="0" algn="just">
              <a:buNone/>
            </a:pPr>
            <a:br>
              <a:rPr lang="en-US" sz="2300" dirty="0"/>
            </a:br>
            <a:r>
              <a:rPr lang="en-US" sz="2300" dirty="0"/>
              <a:t>Pneumonia diagnosis through chest X-rays is a critical yet time-consuming process that heavily depends on expert radiologists. Manual interpretation can lead to delays, misdiagnosis, and inconsistent results, especially in resource-limited healthcare settings.</a:t>
            </a:r>
          </a:p>
          <a:p>
            <a:pPr marL="0" indent="0" algn="just">
              <a:buNone/>
            </a:pPr>
            <a:endParaRPr lang="en-US" sz="2300" dirty="0"/>
          </a:p>
          <a:p>
            <a:pPr algn="just"/>
            <a:r>
              <a:rPr lang="en-US" sz="2300" b="1" dirty="0"/>
              <a:t>Key Challenges:</a:t>
            </a:r>
          </a:p>
          <a:p>
            <a:pPr marL="0" indent="0" algn="just">
              <a:buNone/>
            </a:pPr>
            <a:r>
              <a:rPr lang="en-US" sz="2300" dirty="0"/>
              <a:t>   Visual symptoms of pneumonia are subtle and overlapping with other lung diseases.</a:t>
            </a:r>
          </a:p>
          <a:p>
            <a:pPr marL="0" indent="0" algn="just">
              <a:buNone/>
            </a:pPr>
            <a:r>
              <a:rPr lang="en-US" sz="2300" dirty="0"/>
              <a:t>   Existing CNN models struggle to generalize across different datasets and image qualities.</a:t>
            </a:r>
          </a:p>
          <a:p>
            <a:pPr marL="0" indent="0" algn="just">
              <a:buNone/>
            </a:pPr>
            <a:r>
              <a:rPr lang="en-US" sz="2300" dirty="0"/>
              <a:t>   Lack of optimized architectures that balance accuracy and computational efficiency.</a:t>
            </a:r>
          </a:p>
          <a:p>
            <a:pPr marL="0" indent="0" algn="just">
              <a:buNone/>
            </a:pPr>
            <a:r>
              <a:rPr lang="en-US" sz="2300" dirty="0"/>
              <a:t>   Minimal focus on feature-level fusion between custom CNNs and pretrained networks.</a:t>
            </a:r>
          </a:p>
          <a:p>
            <a:pPr marL="0" indent="0" algn="just">
              <a:buNone/>
            </a:pPr>
            <a:endParaRPr lang="en-US" sz="2300" dirty="0"/>
          </a:p>
          <a:p>
            <a:pPr algn="just"/>
            <a:r>
              <a:rPr lang="en-US" sz="2300" b="1" dirty="0"/>
              <a:t>Goal:</a:t>
            </a:r>
          </a:p>
          <a:p>
            <a:pPr marL="0" indent="0" algn="just">
              <a:buNone/>
            </a:pPr>
            <a:br>
              <a:rPr lang="en-US" sz="2300" dirty="0"/>
            </a:br>
            <a:r>
              <a:rPr lang="en-US" sz="2300" dirty="0"/>
              <a:t>To formulate and develop a deep learning framework consisting of a Custom CNN and ResNet152V2 for accurate, robust, and automated pneumonia detection from chest X-rays.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0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60C4-3C39-30D4-60CB-6B9DF49F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19D4-2F79-35CD-8B2B-88398B2DD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75355"/>
            <a:ext cx="5562600" cy="435133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An automated deep learning pipeline for </a:t>
            </a:r>
            <a:r>
              <a:rPr lang="en-US" b="1" dirty="0"/>
              <a:t>pneumonia detection from chest X-rays</a:t>
            </a:r>
            <a:r>
              <a:rPr lang="en-US" dirty="0"/>
              <a:t>, combining a </a:t>
            </a:r>
            <a:r>
              <a:rPr lang="en-US" b="1" dirty="0"/>
              <a:t>Custom CNN</a:t>
            </a:r>
            <a:r>
              <a:rPr lang="en-US" dirty="0"/>
              <a:t> and a </a:t>
            </a:r>
            <a:r>
              <a:rPr lang="en-US" b="1" dirty="0"/>
              <a:t>fine-tuned ResNet152V2</a:t>
            </a:r>
            <a:r>
              <a:rPr lang="en-US" dirty="0"/>
              <a:t>. Class imbalance is handled using </a:t>
            </a:r>
            <a:r>
              <a:rPr lang="en-US" b="1" dirty="0"/>
              <a:t>class weights</a:t>
            </a:r>
            <a:r>
              <a:rPr lang="en-US" dirty="0"/>
              <a:t>, ensuring fair learning across categories.</a:t>
            </a:r>
          </a:p>
          <a:p>
            <a:r>
              <a:rPr lang="en-US" b="1" dirty="0"/>
              <a:t>Workflow:</a:t>
            </a:r>
            <a:endParaRPr lang="en-US" dirty="0"/>
          </a:p>
          <a:p>
            <a:r>
              <a:rPr lang="en-US" b="1" dirty="0"/>
              <a:t>Input Stage:</a:t>
            </a:r>
            <a:br>
              <a:rPr lang="en-US" dirty="0"/>
            </a:br>
            <a:r>
              <a:rPr lang="en-US" dirty="0"/>
              <a:t>Chest X-ray images are collected and resized to 224×224 pixels.</a:t>
            </a:r>
          </a:p>
          <a:p>
            <a:r>
              <a:rPr lang="en-US" b="1" dirty="0"/>
              <a:t>Preprocessing:</a:t>
            </a:r>
            <a:endParaRPr lang="en-US" dirty="0"/>
          </a:p>
          <a:p>
            <a:pPr lvl="1"/>
            <a:r>
              <a:rPr lang="en-US" sz="2800" dirty="0"/>
              <a:t>Image normalization and enhancement for consistent brightness and contrast.</a:t>
            </a:r>
          </a:p>
          <a:p>
            <a:pPr lvl="1"/>
            <a:r>
              <a:rPr lang="en-US" sz="2800" b="1" dirty="0"/>
              <a:t>Class imbalance handled via class weights</a:t>
            </a:r>
            <a:r>
              <a:rPr lang="en-US" sz="2800" dirty="0"/>
              <a:t> during training.</a:t>
            </a:r>
          </a:p>
          <a:p>
            <a:r>
              <a:rPr lang="en-US" b="1" dirty="0"/>
              <a:t>Feature Extraction:</a:t>
            </a:r>
            <a:endParaRPr lang="en-US" dirty="0"/>
          </a:p>
          <a:p>
            <a:pPr lvl="1"/>
            <a:r>
              <a:rPr lang="en-US" sz="2800" b="1" dirty="0"/>
              <a:t>Custom CNN:</a:t>
            </a:r>
            <a:r>
              <a:rPr lang="en-US" sz="2800" dirty="0"/>
              <a:t> Captures spatial and texture features of pneumonia-affected lung regions.</a:t>
            </a:r>
          </a:p>
          <a:p>
            <a:pPr lvl="1"/>
            <a:r>
              <a:rPr lang="en-US" sz="2800" b="1" dirty="0"/>
              <a:t>ResNet152V2 (Fine-Tuned):</a:t>
            </a:r>
            <a:r>
              <a:rPr lang="en-US" sz="2800" dirty="0"/>
              <a:t> Extracts deep hierarchical features and refines pneumonia-specific patterns.</a:t>
            </a:r>
          </a:p>
          <a:p>
            <a:r>
              <a:rPr lang="en-US" b="1" dirty="0"/>
              <a:t>Fusion &amp; Classification:</a:t>
            </a:r>
            <a:br>
              <a:rPr lang="en-US" dirty="0"/>
            </a:br>
            <a:r>
              <a:rPr lang="en-US" dirty="0"/>
              <a:t>Combined features pass through fully connected layers with dropout, followed by a </a:t>
            </a:r>
            <a:r>
              <a:rPr lang="en-US" b="1" dirty="0" err="1"/>
              <a:t>Softmax</a:t>
            </a:r>
            <a:r>
              <a:rPr lang="en-US" b="1" dirty="0"/>
              <a:t> layer</a:t>
            </a:r>
            <a:r>
              <a:rPr lang="en-US" dirty="0"/>
              <a:t> for binary classification (Pneumonia / Normal).</a:t>
            </a:r>
          </a:p>
          <a:p>
            <a:r>
              <a:rPr lang="en-US" b="1" dirty="0"/>
              <a:t>Evaluation:</a:t>
            </a:r>
            <a:br>
              <a:rPr lang="en-US" dirty="0"/>
            </a:br>
            <a:r>
              <a:rPr lang="en-US" dirty="0"/>
              <a:t>Model performance is measured using </a:t>
            </a:r>
            <a:r>
              <a:rPr lang="en-US" b="1" dirty="0"/>
              <a:t>accuracy, precision, recall, F1-score, and confusion matrix</a:t>
            </a:r>
            <a:r>
              <a:rPr lang="en-US" dirty="0"/>
              <a:t>.</a:t>
            </a:r>
          </a:p>
          <a:p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hybrid, class-balanced deep learning system</a:t>
            </a:r>
            <a:r>
              <a:rPr lang="en-US" dirty="0"/>
              <a:t> providing accurate, efficient, and reliable pneumonia detection, suitable for clinical decision support.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D6E6C-CAB8-779E-FDD3-91E2EA578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761567" cy="384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C39-5174-01E3-5697-30DDC132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66" y="0"/>
            <a:ext cx="4648200" cy="1325563"/>
          </a:xfrm>
        </p:spPr>
        <p:txBody>
          <a:bodyPr>
            <a:normAutofit/>
          </a:bodyPr>
          <a:lstStyle/>
          <a:p>
            <a:r>
              <a:rPr lang="en-IN" sz="2400" b="1" dirty="0"/>
              <a:t>Data Flow Diagram of Custom CNNs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BADEF1-E613-1954-129C-F95251389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7254"/>
            <a:ext cx="56388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diagram shows the workflow for pneumonia detection using two CNN architectures — Custom CNN1 and Custom CNN 2 (Residual + SE Blocks).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 X-ray Dataset is uploaded and sent to the Preprocessing Unit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Resizing (224×224), Normalization, and Data Augmentation.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Preprocessed data is used by both models for training and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CNN 1: Conv2D +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Pooling, Flatten, and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CNN 2: Residual connections, SE blocks, Global Avg Pooling, and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 Accuracy, Precision, Recall, F1-score, and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receives the final performance report and model comparison.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C0D29-A53A-6439-0C2E-90F47F69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63" y="1203394"/>
            <a:ext cx="6689937" cy="484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1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3E5B-432E-5612-9AE5-121BCF87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1529-9E47-0EA8-4092-89296FB2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9133"/>
            <a:ext cx="4648200" cy="1794934"/>
          </a:xfrm>
        </p:spPr>
        <p:txBody>
          <a:bodyPr>
            <a:normAutofit/>
          </a:bodyPr>
          <a:lstStyle/>
          <a:p>
            <a:r>
              <a:rPr lang="en-IN" sz="2400" b="1" dirty="0"/>
              <a:t>Sequence Overview of Pneumonia Detection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1209E-BBC3-4113-3FB2-04359881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1" y="129229"/>
            <a:ext cx="7518400" cy="448818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BDD80D4-B864-3F95-835A-D52E38C2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9676"/>
            <a:ext cx="108627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uploads Chest X-ray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Module resizes, normalizes, and augments the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CNN Model is trained using preprocessed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Module computes Accuracy, Precision, Recall, and F1-score.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ResNet152V2 Model is loaded, base layers trained, and last layers fine-tuned.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ResNet152V2 is evaluated for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Module generates comparative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Generator compiles the final performance report for the User.</a:t>
            </a:r>
          </a:p>
        </p:txBody>
      </p:sp>
    </p:spTree>
    <p:extLst>
      <p:ext uri="{BB962C8B-B14F-4D97-AF65-F5344CB8AC3E}">
        <p14:creationId xmlns:p14="http://schemas.microsoft.com/office/powerpoint/2010/main" val="202869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0FF8-D939-C89D-8ACB-867A4051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06F1-9484-FE44-70A9-05C8868FD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900" dirty="0"/>
              <a:t>Environment: Python, TensorFlow/</a:t>
            </a:r>
            <a:r>
              <a:rPr lang="en-IN" sz="1900" dirty="0" err="1"/>
              <a:t>Keras</a:t>
            </a:r>
            <a:r>
              <a:rPr lang="en-IN" sz="1900" dirty="0"/>
              <a:t>, GPU-enabled Colab/Local machine</a:t>
            </a:r>
          </a:p>
          <a:p>
            <a:r>
              <a:rPr lang="en-IN" sz="1900" dirty="0"/>
              <a:t>Models Evaluated:</a:t>
            </a:r>
          </a:p>
          <a:p>
            <a:pPr lvl="1"/>
            <a:r>
              <a:rPr lang="en-IN" sz="1900" dirty="0"/>
              <a:t>Custom CNNs</a:t>
            </a:r>
          </a:p>
          <a:p>
            <a:pPr lvl="1"/>
            <a:r>
              <a:rPr lang="en-IN" sz="1900" dirty="0"/>
              <a:t>ResNet152V2</a:t>
            </a:r>
          </a:p>
          <a:p>
            <a:r>
              <a:rPr lang="en-IN" sz="1900" dirty="0"/>
              <a:t>Dataset Split:</a:t>
            </a:r>
          </a:p>
          <a:p>
            <a:pPr lvl="1"/>
            <a:r>
              <a:rPr lang="en-IN" sz="1900" dirty="0"/>
              <a:t>Training: Normal-1341;Pneumonia-3875</a:t>
            </a:r>
          </a:p>
          <a:p>
            <a:pPr lvl="1"/>
            <a:r>
              <a:rPr lang="en-IN" sz="1900" dirty="0"/>
              <a:t>Testing: Normal-234; Pneumonia-390</a:t>
            </a:r>
          </a:p>
          <a:p>
            <a:pPr lvl="1"/>
            <a:r>
              <a:rPr lang="en-IN" sz="1900" dirty="0"/>
              <a:t>Validation: Normal-8; Pneumonia-8</a:t>
            </a:r>
          </a:p>
          <a:p>
            <a:r>
              <a:rPr lang="en-IN" sz="1900" dirty="0"/>
              <a:t>Preprocessing:</a:t>
            </a:r>
          </a:p>
          <a:p>
            <a:pPr lvl="1"/>
            <a:r>
              <a:rPr lang="en-IN" sz="1900" dirty="0"/>
              <a:t>Resizing to 224×224</a:t>
            </a:r>
          </a:p>
          <a:p>
            <a:pPr lvl="1"/>
            <a:r>
              <a:rPr lang="en-IN" sz="1900" dirty="0"/>
              <a:t>Normalization</a:t>
            </a:r>
          </a:p>
          <a:p>
            <a:pPr lvl="1"/>
            <a:r>
              <a:rPr lang="en-IN" sz="1900" dirty="0"/>
              <a:t>Class weights used to handle imbalance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91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BA29-6143-0C28-DF81-4DB852F0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346C94-0DFE-34DE-B0F6-A9204FE75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630530"/>
              </p:ext>
            </p:extLst>
          </p:nvPr>
        </p:nvGraphicFramePr>
        <p:xfrm>
          <a:off x="838200" y="2587361"/>
          <a:ext cx="5833534" cy="1828800"/>
        </p:xfrm>
        <a:graphic>
          <a:graphicData uri="http://schemas.openxmlformats.org/drawingml/2006/table">
            <a:tbl>
              <a:tblPr/>
              <a:tblGrid>
                <a:gridCol w="2916767">
                  <a:extLst>
                    <a:ext uri="{9D8B030D-6E8A-4147-A177-3AD203B41FA5}">
                      <a16:colId xmlns:a16="http://schemas.microsoft.com/office/drawing/2014/main" val="3457319510"/>
                    </a:ext>
                  </a:extLst>
                </a:gridCol>
                <a:gridCol w="2916767">
                  <a:extLst>
                    <a:ext uri="{9D8B030D-6E8A-4147-A177-3AD203B41FA5}">
                      <a16:colId xmlns:a16="http://schemas.microsoft.com/office/drawing/2014/main" val="4142136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06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 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86.95%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850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 CNN (S&amp;E)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90.49%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3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ResNet152V2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93.76%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252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ResNet50 Fine-tuned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96.06%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4176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0B8522-B82A-04BB-B7B4-D0FE0CD5B757}"/>
              </a:ext>
            </a:extLst>
          </p:cNvPr>
          <p:cNvSpPr txBox="1"/>
          <p:nvPr/>
        </p:nvSpPr>
        <p:spPr>
          <a:xfrm>
            <a:off x="838200" y="18347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Comparison of Validation Accuracy Across All Models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C0EAA-637A-8D3B-5CAF-A964895E8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8280"/>
            <a:ext cx="5731510" cy="261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1012FD-BE8E-8972-D798-F849917C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49941"/>
            <a:ext cx="5731510" cy="26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7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F776-1AF8-9740-C4F9-30568337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 Analysis of Custom CNNs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D84071-EAC5-4E58-F191-83A309BC8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328" y="1757891"/>
            <a:ext cx="4908539" cy="376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DD6EB-C9A3-5167-5FAB-A07C2E447659}"/>
              </a:ext>
            </a:extLst>
          </p:cNvPr>
          <p:cNvSpPr txBox="1"/>
          <p:nvPr/>
        </p:nvSpPr>
        <p:spPr>
          <a:xfrm>
            <a:off x="118533" y="5525917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20"/>
              </a:spcBef>
              <a:spcAft>
                <a:spcPts val="12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Confusion Matrix of Custom CNN1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0DA22F-B9C5-630C-ECCA-00F7D937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533" y="1752939"/>
            <a:ext cx="4908540" cy="3777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56384C-E24C-1DA9-2387-426FD41FCB4A}"/>
              </a:ext>
            </a:extLst>
          </p:cNvPr>
          <p:cNvSpPr txBox="1"/>
          <p:nvPr/>
        </p:nvSpPr>
        <p:spPr>
          <a:xfrm>
            <a:off x="5620803" y="5525917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20"/>
              </a:spcBef>
              <a:spcAft>
                <a:spcPts val="12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Confusion Matrix Of Custom CNN2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26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0C16-3887-6D30-B371-00D275F3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Observations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295A78-8AEE-6061-B631-8773F9C0D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988283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CNN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accuracy: 77.33% → moderate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86.</a:t>
            </a:r>
            <a:r>
              <a:rPr lang="en-US" altLang="en-US" sz="1800" dirty="0">
                <a:latin typeface="Arial" panose="020B0604020202020204" pitchFamily="34" charset="0"/>
              </a:rPr>
              <a:t>95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→ some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depth and feature extraction capability make it less robust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CNN 2 (Residual + SE Blocks):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accuracy: 80.70%, validation: 90.49%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Residual + SE blocks improve feature focus, generalization, and reduce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ResNet152V2 (Pretrained):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accuracy: 90.19%, validation: 93.76%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Pre-trained weights provide strong feature extraction even without fine-tuning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ResNet152V2 (Fine-Tuned):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accuracy: 92.28%, validation: 96.06%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 deeper layers enhances generalization and optimizes pneumonia-specific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520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A81F-B786-8F99-F146-2A5301286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/>
              <a:t>Conclusion:</a:t>
            </a:r>
          </a:p>
          <a:p>
            <a:r>
              <a:rPr lang="en-US" dirty="0"/>
              <a:t>Fine-tuned ResNet152V2 achieved the highest validation (96.06%) and test accuracy (92.28%), outperforming custom CNN architectures.</a:t>
            </a:r>
          </a:p>
          <a:p>
            <a:r>
              <a:rPr lang="en-US" dirty="0"/>
              <a:t>Custom CNN 2 (Residual + SE blocks) showed significant improvement over simple CNNs, highlighting the value of residual connections and SE blocks.</a:t>
            </a:r>
          </a:p>
          <a:p>
            <a:r>
              <a:rPr lang="en-US" dirty="0"/>
              <a:t>Pre-trained models provide strong feature extraction, even without fine-tuning.</a:t>
            </a:r>
          </a:p>
          <a:p>
            <a:r>
              <a:rPr lang="en-US" dirty="0"/>
              <a:t>Deep learning models are effective for early and accurate pneumonia detection.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Future Development:</a:t>
            </a:r>
            <a:endParaRPr lang="en-US" dirty="0"/>
          </a:p>
          <a:p>
            <a:r>
              <a:rPr lang="en-US" dirty="0"/>
              <a:t>Expand to detect other lung diseases such as tuberculosis, COVID-19, or lung cancer.</a:t>
            </a:r>
          </a:p>
          <a:p>
            <a:r>
              <a:rPr lang="en-US" dirty="0"/>
              <a:t>Explore other pre-trained architectures (</a:t>
            </a:r>
            <a:r>
              <a:rPr lang="en-US" dirty="0" err="1"/>
              <a:t>DenseNet</a:t>
            </a:r>
            <a:r>
              <a:rPr lang="en-US" dirty="0"/>
              <a:t>, </a:t>
            </a:r>
            <a:r>
              <a:rPr lang="en-US" dirty="0" err="1"/>
              <a:t>EfficientNet</a:t>
            </a:r>
            <a:r>
              <a:rPr lang="en-US" dirty="0"/>
              <a:t>) for higher accuracy.</a:t>
            </a:r>
          </a:p>
          <a:p>
            <a:r>
              <a:rPr lang="en-US" dirty="0"/>
              <a:t>Increase dataset size and diversity to improve generalization.</a:t>
            </a:r>
          </a:p>
          <a:p>
            <a:r>
              <a:rPr lang="en-US" dirty="0"/>
              <a:t>Deploy as a real-time clinical tool integrated with hospital systems.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79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CF55-3E3F-FB2D-D5BC-A72187F4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Outcomes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86B4-7515-375D-276E-5A5FCCF32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/>
              <a:t>Technical Outcomes:</a:t>
            </a:r>
          </a:p>
          <a:p>
            <a:r>
              <a:rPr lang="en-US" sz="2600" dirty="0"/>
              <a:t>Developed a deep learning-based pneumonia detection system using Custom CNNs and ResNet152V2.</a:t>
            </a:r>
          </a:p>
          <a:p>
            <a:r>
              <a:rPr lang="en-US" sz="2600" dirty="0"/>
              <a:t>Achieved high accuracy: Fine-tuned ResNet152V2 → 96.06% validation, 92.28% test accuracy.</a:t>
            </a:r>
          </a:p>
          <a:p>
            <a:r>
              <a:rPr lang="en-US" sz="2600" dirty="0"/>
              <a:t>Implemented advanced architectures (Residual + SE blocks) to improve feature extraction and generalization.</a:t>
            </a:r>
          </a:p>
          <a:p>
            <a:r>
              <a:rPr lang="en-US" sz="2600" dirty="0"/>
              <a:t>Demonstrated the effectiveness of Squeeze &amp; Excitation and fine-tuning for medical image analysis.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Academic/Knowledge Outcomes:</a:t>
            </a:r>
          </a:p>
          <a:p>
            <a:r>
              <a:rPr lang="en-US" sz="2600" dirty="0"/>
              <a:t>Gained hands-on experience in deep learning, CNNs, and transfer learning.</a:t>
            </a:r>
          </a:p>
          <a:p>
            <a:r>
              <a:rPr lang="en-US" sz="2600" dirty="0"/>
              <a:t>Learned data preprocessing, handling class imbalance, and evaluation metrics in medical imaging.</a:t>
            </a:r>
          </a:p>
          <a:p>
            <a:r>
              <a:rPr lang="en-US" sz="2600" dirty="0"/>
              <a:t>Improved understanding of model optimization, architecture design, and performance analysis.</a:t>
            </a:r>
          </a:p>
          <a:p>
            <a:r>
              <a:rPr lang="en-US" sz="2600" dirty="0"/>
              <a:t>Enhanced skills in interpreting results and presenting findings in a research-oriented manner.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171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43AB-223F-CE7F-A3BF-DB85E3D2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References- Research Paper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1C81EDB-035F-BE0D-053B-A42878F09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90" y="2413337"/>
            <a:ext cx="1154756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Rajpurkar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P., Irvin, J., Ball, R., Zhu, K., Yang, B., Mehta, H., et al. (2017).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CheXNet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Radiologist-Level Pneumonia Detection on Chest X-Rays with Deep Learning.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arXiv:1711.05225.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Wang, X., Peng, Y., Lu, L., Lu, Z., Bagheri, M., &amp; Summers, R.M. (2017).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ChestX-ray8: Hospital-scale Chest X-ray Database and Benchmarks on Weakly-Supervised Classification and Localization of Common Thorax Diseases.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IEEE CVPR.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Rajaraman, S., &amp; Antani, S. (2020).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 of deep learning architectures for pneumonia detection in chest X-rays.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Computers in Biology and Medicine, 121, 103765.</a:t>
            </a:r>
          </a:p>
        </p:txBody>
      </p:sp>
    </p:spTree>
    <p:extLst>
      <p:ext uri="{BB962C8B-B14F-4D97-AF65-F5344CB8AC3E}">
        <p14:creationId xmlns:p14="http://schemas.microsoft.com/office/powerpoint/2010/main" val="2024283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73E2-9042-373A-BD9F-6A98013A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– Dataset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2E418-81BC-39E9-C50A-A37CC3B39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Datasets: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Chest X-Ray Images (Pneumonia) Dataset – Kaggle (https://www.kaggle.com/paultimothymooney/chest-xray-pneumonia)</a:t>
            </a:r>
          </a:p>
          <a:p>
            <a:r>
              <a:rPr lang="en-IN" b="1" dirty="0"/>
              <a:t>Frameworks &amp; Libraries: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TensorFlow/</a:t>
            </a:r>
            <a:r>
              <a:rPr lang="en-IN" dirty="0" err="1"/>
              <a:t>Keras</a:t>
            </a:r>
            <a:r>
              <a:rPr lang="en-IN" dirty="0"/>
              <a:t> for model building and training</a:t>
            </a:r>
          </a:p>
          <a:p>
            <a:pPr marL="0" indent="0">
              <a:buNone/>
            </a:pPr>
            <a:r>
              <a:rPr lang="en-IN" dirty="0"/>
              <a:t>OpenCV, PIL for image preprocessing</a:t>
            </a:r>
          </a:p>
          <a:p>
            <a:pPr marL="0" indent="0">
              <a:buNone/>
            </a:pPr>
            <a:r>
              <a:rPr lang="en-IN" dirty="0"/>
              <a:t>NumPy, Pandas, Matplotlib, Seaborn for data handling and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478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E7CC-2ED3-39E1-4A3D-B07CF15C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References- </a:t>
            </a:r>
            <a:r>
              <a:rPr lang="en-IN" dirty="0" err="1"/>
              <a:t>Additionl</a:t>
            </a:r>
            <a:r>
              <a:rPr lang="en-IN" dirty="0"/>
              <a:t> References </a:t>
            </a:r>
            <a:r>
              <a:rPr lang="en-IN" dirty="0" err="1"/>
              <a:t>nd</a:t>
            </a:r>
            <a:r>
              <a:rPr lang="en-IN" dirty="0"/>
              <a:t>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270E-98EB-06C5-B537-9BCFD1CB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2092"/>
            <a:ext cx="10515600" cy="4351338"/>
          </a:xfrm>
        </p:spPr>
        <p:txBody>
          <a:bodyPr/>
          <a:lstStyle/>
          <a:p>
            <a:r>
              <a:rPr lang="en-IN" dirty="0"/>
              <a:t>Huang, G., Liu, Z., Van Der </a:t>
            </a:r>
            <a:r>
              <a:rPr lang="en-IN" dirty="0" err="1"/>
              <a:t>Maaten</a:t>
            </a:r>
            <a:r>
              <a:rPr lang="en-IN" dirty="0"/>
              <a:t>, L., &amp; Weinberger, K.Q. (2017). </a:t>
            </a:r>
            <a:r>
              <a:rPr lang="en-IN" i="1" dirty="0"/>
              <a:t>Densely Connected Convolutional Networks (</a:t>
            </a:r>
            <a:r>
              <a:rPr lang="en-IN" i="1" dirty="0" err="1"/>
              <a:t>DenseNet</a:t>
            </a:r>
            <a:r>
              <a:rPr lang="en-IN" i="1" dirty="0"/>
              <a:t>).</a:t>
            </a:r>
            <a:r>
              <a:rPr lang="en-IN" dirty="0"/>
              <a:t> CVPR.</a:t>
            </a:r>
          </a:p>
          <a:p>
            <a:r>
              <a:rPr lang="en-IN" dirty="0"/>
              <a:t>Hu, J., Shen, L., &amp; Sun, G. (2018). </a:t>
            </a:r>
            <a:r>
              <a:rPr lang="en-IN" i="1" dirty="0"/>
              <a:t>Squeeze-and-Excitation Networks.</a:t>
            </a:r>
            <a:r>
              <a:rPr lang="en-IN" dirty="0"/>
              <a:t> CVPR.</a:t>
            </a:r>
          </a:p>
          <a:p>
            <a:r>
              <a:rPr lang="en-IN" dirty="0"/>
              <a:t>Shorten, C., &amp; </a:t>
            </a:r>
            <a:r>
              <a:rPr lang="en-IN" dirty="0" err="1"/>
              <a:t>Khoshgoftaar</a:t>
            </a:r>
            <a:r>
              <a:rPr lang="en-IN" dirty="0"/>
              <a:t>, T.M. (2019). </a:t>
            </a:r>
            <a:r>
              <a:rPr lang="en-IN" i="1" dirty="0"/>
              <a:t>A survey on Image Data Augmentation for Deep Learning.</a:t>
            </a:r>
            <a:r>
              <a:rPr lang="en-IN" dirty="0"/>
              <a:t> Journal of Big Data, 6(1), 60.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050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1908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B.Tech. BCSE497J - Project-I  PneuNet: PNEUMONIA DETECTION USING CNN </vt:lpstr>
      <vt:lpstr>PowerPoint Presentation</vt:lpstr>
      <vt:lpstr>Motivation Behind the Project</vt:lpstr>
      <vt:lpstr>Literature Survey and Gaps Identified</vt:lpstr>
      <vt:lpstr>PowerPoint Presentation</vt:lpstr>
      <vt:lpstr>Problem Formulation</vt:lpstr>
      <vt:lpstr>Proposed System Architecture</vt:lpstr>
      <vt:lpstr>Data Flow Diagram of Custom CNNs</vt:lpstr>
      <vt:lpstr>Sequence Overview of Pneumonia Detection System</vt:lpstr>
      <vt:lpstr>Experimental Setup</vt:lpstr>
      <vt:lpstr>Performance</vt:lpstr>
      <vt:lpstr>Confusion Matrix Analysis of Custom CNNs</vt:lpstr>
      <vt:lpstr>Results and Observations</vt:lpstr>
      <vt:lpstr>PowerPoint Presentation</vt:lpstr>
      <vt:lpstr>Outcomes Achieved</vt:lpstr>
      <vt:lpstr>References- Research Paper</vt:lpstr>
      <vt:lpstr>References – Dataset and Tools</vt:lpstr>
      <vt:lpstr>References- Additionl References nd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Tiwari</dc:creator>
  <cp:lastModifiedBy>Adarsh Tiwari</cp:lastModifiedBy>
  <cp:revision>3</cp:revision>
  <dcterms:created xsi:type="dcterms:W3CDTF">2025-11-05T05:45:04Z</dcterms:created>
  <dcterms:modified xsi:type="dcterms:W3CDTF">2025-11-12T04:17:33Z</dcterms:modified>
</cp:coreProperties>
</file>